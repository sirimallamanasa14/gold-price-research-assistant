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75" d="100"/>
          <a:sy n="75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10/1/2026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5" name="文本框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456011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387380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1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465908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705851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367025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6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7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169341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3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4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12427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7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8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697084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9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668471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7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58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559773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3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4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92569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8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305550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5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06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20125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6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7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813294"/>
      </p:ext>
    </p:extLst>
  </p:cSld>
  <p:clrMapOvr>
    <a:masterClrMapping/>
  </p:clrMapOvr>
</p:notes>
</file>

<file path=ppt/notesSlides/notesSlide1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1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32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667024"/>
      </p:ext>
    </p:extLst>
  </p:cSld>
  <p:clrMapOvr>
    <a:masterClrMapping/>
  </p:clrMapOvr>
</p:notes>
</file>

<file path=ppt/notesSlides/notesSlide1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5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36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981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367680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53041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57481139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742931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572122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559000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948966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3973263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61169687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224466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023029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101828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40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2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"/>
          <p:cNvSpPr>
            <a:spLocks/>
          </p:cNvSpPr>
          <p:nvPr/>
        </p:nvSpPr>
        <p:spPr>
          <a:xfrm rot="0">
            <a:off x="640080" y="1371600"/>
            <a:ext cx="786384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Deep Research Assistant</a:t>
            </a:r>
            <a:endParaRPr lang="zh-CN" altLang="en-US" sz="4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" name="矩形"/>
          <p:cNvSpPr>
            <a:spLocks/>
          </p:cNvSpPr>
          <p:nvPr/>
        </p:nvSpPr>
        <p:spPr>
          <a:xfrm rot="0">
            <a:off x="640080" y="2286000"/>
            <a:ext cx="786384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with web Browsing </a:t>
            </a:r>
            <a:endParaRPr lang="zh-CN" altLang="en-US" sz="48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" name="矩形"/>
          <p:cNvSpPr>
            <a:spLocks/>
          </p:cNvSpPr>
          <p:nvPr/>
        </p:nvSpPr>
        <p:spPr>
          <a:xfrm rot="0">
            <a:off x="640080" y="3200400"/>
            <a:ext cx="786384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D6EAF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Gold Price Edition  |  n8n AI Agent  |  Gemini + Tavily + Memory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78324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What We Will Cover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" name="椭圆"/>
          <p:cNvSpPr>
            <a:spLocks/>
          </p:cNvSpPr>
          <p:nvPr/>
        </p:nvSpPr>
        <p:spPr>
          <a:xfrm rot="0">
            <a:off x="457200" y="1188720"/>
            <a:ext cx="411480" cy="411480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15" name="矩形"/>
          <p:cNvSpPr>
            <a:spLocks/>
          </p:cNvSpPr>
          <p:nvPr/>
        </p:nvSpPr>
        <p:spPr>
          <a:xfrm rot="0">
            <a:off x="457200" y="1188720"/>
            <a:ext cx="41148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1051560" y="1188720"/>
            <a:ext cx="3383279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Project goal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" name="椭圆"/>
          <p:cNvSpPr>
            <a:spLocks/>
          </p:cNvSpPr>
          <p:nvPr/>
        </p:nvSpPr>
        <p:spPr>
          <a:xfrm rot="0">
            <a:off x="457200" y="1755648"/>
            <a:ext cx="411480" cy="411479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18" name="矩形"/>
          <p:cNvSpPr>
            <a:spLocks/>
          </p:cNvSpPr>
          <p:nvPr/>
        </p:nvSpPr>
        <p:spPr>
          <a:xfrm rot="0">
            <a:off x="457200" y="1755648"/>
            <a:ext cx="4114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 rot="0">
            <a:off x="1051560" y="1755648"/>
            <a:ext cx="33832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Why a research agent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" name="椭圆"/>
          <p:cNvSpPr>
            <a:spLocks/>
          </p:cNvSpPr>
          <p:nvPr/>
        </p:nvSpPr>
        <p:spPr>
          <a:xfrm rot="0">
            <a:off x="457200" y="2322576"/>
            <a:ext cx="411480" cy="411479"/>
          </a:xfrm>
          <a:prstGeom prst="ellipse"/>
          <a:solidFill>
            <a:srgbClr val="0B4F6C"/>
          </a:solidFill>
          <a:ln w="12700" cmpd="sng" cap="flat">
            <a:noFill/>
            <a:prstDash val="solid"/>
            <a:miter/>
          </a:ln>
        </p:spPr>
      </p:sp>
      <p:sp>
        <p:nvSpPr>
          <p:cNvPr id="21" name="矩形"/>
          <p:cNvSpPr>
            <a:spLocks/>
          </p:cNvSpPr>
          <p:nvPr/>
        </p:nvSpPr>
        <p:spPr>
          <a:xfrm rot="0">
            <a:off x="457200" y="2322576"/>
            <a:ext cx="4114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" name="矩形"/>
          <p:cNvSpPr>
            <a:spLocks/>
          </p:cNvSpPr>
          <p:nvPr/>
        </p:nvSpPr>
        <p:spPr>
          <a:xfrm rot="0">
            <a:off x="1051560" y="2322576"/>
            <a:ext cx="33832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Workflow architecture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" name="椭圆"/>
          <p:cNvSpPr>
            <a:spLocks/>
          </p:cNvSpPr>
          <p:nvPr/>
        </p:nvSpPr>
        <p:spPr>
          <a:xfrm rot="0">
            <a:off x="457200" y="2889504"/>
            <a:ext cx="411480" cy="411479"/>
          </a:xfrm>
          <a:prstGeom prst="ellipse"/>
          <a:solidFill>
            <a:srgbClr val="0B4F6C"/>
          </a:solidFill>
          <a:ln w="12700" cmpd="sng" cap="flat">
            <a:noFill/>
            <a:prstDash val="solid"/>
            <a:miter/>
          </a:ln>
        </p:spPr>
      </p:sp>
      <p:sp>
        <p:nvSpPr>
          <p:cNvPr id="24" name="矩形"/>
          <p:cNvSpPr>
            <a:spLocks/>
          </p:cNvSpPr>
          <p:nvPr/>
        </p:nvSpPr>
        <p:spPr>
          <a:xfrm rot="0">
            <a:off x="457200" y="2889504"/>
            <a:ext cx="4114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" name="矩形"/>
          <p:cNvSpPr>
            <a:spLocks/>
          </p:cNvSpPr>
          <p:nvPr/>
        </p:nvSpPr>
        <p:spPr>
          <a:xfrm rot="0">
            <a:off x="1051560" y="2889504"/>
            <a:ext cx="33832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Node-by-node roles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" name="椭圆"/>
          <p:cNvSpPr>
            <a:spLocks/>
          </p:cNvSpPr>
          <p:nvPr/>
        </p:nvSpPr>
        <p:spPr>
          <a:xfrm rot="0">
            <a:off x="457200" y="3456431"/>
            <a:ext cx="411480" cy="411479"/>
          </a:xfrm>
          <a:prstGeom prst="ellipse"/>
          <a:solidFill>
            <a:srgbClr val="E8833A"/>
          </a:solidFill>
          <a:ln w="12700" cmpd="sng" cap="flat">
            <a:noFill/>
            <a:prstDash val="solid"/>
            <a:miter/>
          </a:ln>
        </p:spPr>
      </p:sp>
      <p:sp>
        <p:nvSpPr>
          <p:cNvPr id="27" name="矩形"/>
          <p:cNvSpPr>
            <a:spLocks/>
          </p:cNvSpPr>
          <p:nvPr/>
        </p:nvSpPr>
        <p:spPr>
          <a:xfrm rot="0">
            <a:off x="457200" y="3456431"/>
            <a:ext cx="4114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1051560" y="3456431"/>
            <a:ext cx="33832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Research pipeline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椭圆"/>
          <p:cNvSpPr>
            <a:spLocks/>
          </p:cNvSpPr>
          <p:nvPr/>
        </p:nvSpPr>
        <p:spPr>
          <a:xfrm rot="0">
            <a:off x="457200" y="4023359"/>
            <a:ext cx="411480" cy="411479"/>
          </a:xfrm>
          <a:prstGeom prst="ellipse"/>
          <a:solidFill>
            <a:srgbClr val="E8833A"/>
          </a:solidFill>
          <a:ln w="12700" cmpd="sng" cap="flat">
            <a:noFill/>
            <a:prstDash val="solid"/>
            <a:miter/>
          </a:ln>
        </p:spPr>
      </p:sp>
      <p:sp>
        <p:nvSpPr>
          <p:cNvPr id="30" name="矩形"/>
          <p:cNvSpPr>
            <a:spLocks/>
          </p:cNvSpPr>
          <p:nvPr/>
        </p:nvSpPr>
        <p:spPr>
          <a:xfrm rot="0">
            <a:off x="457200" y="4023359"/>
            <a:ext cx="4114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6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" name="矩形"/>
          <p:cNvSpPr>
            <a:spLocks/>
          </p:cNvSpPr>
          <p:nvPr/>
        </p:nvSpPr>
        <p:spPr>
          <a:xfrm rot="0">
            <a:off x="1051560" y="4023359"/>
            <a:ext cx="33832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How the agent thinks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" name="椭圆"/>
          <p:cNvSpPr>
            <a:spLocks/>
          </p:cNvSpPr>
          <p:nvPr/>
        </p:nvSpPr>
        <p:spPr>
          <a:xfrm rot="0">
            <a:off x="4663440" y="1188720"/>
            <a:ext cx="411479" cy="411480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33" name="矩形"/>
          <p:cNvSpPr>
            <a:spLocks/>
          </p:cNvSpPr>
          <p:nvPr/>
        </p:nvSpPr>
        <p:spPr>
          <a:xfrm rot="0">
            <a:off x="4663440" y="1188720"/>
            <a:ext cx="411479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" name="矩形"/>
          <p:cNvSpPr>
            <a:spLocks/>
          </p:cNvSpPr>
          <p:nvPr/>
        </p:nvSpPr>
        <p:spPr>
          <a:xfrm rot="0">
            <a:off x="5257800" y="1188720"/>
            <a:ext cx="3383279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Setup steps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" name="椭圆"/>
          <p:cNvSpPr>
            <a:spLocks/>
          </p:cNvSpPr>
          <p:nvPr/>
        </p:nvSpPr>
        <p:spPr>
          <a:xfrm rot="0">
            <a:off x="4663440" y="1755648"/>
            <a:ext cx="411479" cy="411479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36" name="矩形"/>
          <p:cNvSpPr>
            <a:spLocks/>
          </p:cNvSpPr>
          <p:nvPr/>
        </p:nvSpPr>
        <p:spPr>
          <a:xfrm rot="0">
            <a:off x="4663440" y="1755648"/>
            <a:ext cx="4114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8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" name="矩形"/>
          <p:cNvSpPr>
            <a:spLocks/>
          </p:cNvSpPr>
          <p:nvPr/>
        </p:nvSpPr>
        <p:spPr>
          <a:xfrm rot="0">
            <a:off x="5257800" y="1755648"/>
            <a:ext cx="33832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System prompt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" name="椭圆"/>
          <p:cNvSpPr>
            <a:spLocks/>
          </p:cNvSpPr>
          <p:nvPr/>
        </p:nvSpPr>
        <p:spPr>
          <a:xfrm rot="0">
            <a:off x="4663440" y="2322576"/>
            <a:ext cx="411479" cy="411479"/>
          </a:xfrm>
          <a:prstGeom prst="ellipse"/>
          <a:solidFill>
            <a:srgbClr val="0B4F6C"/>
          </a:solidFill>
          <a:ln w="12700" cmpd="sng" cap="flat">
            <a:noFill/>
            <a:prstDash val="solid"/>
            <a:miter/>
          </a:ln>
        </p:spPr>
      </p:sp>
      <p:sp>
        <p:nvSpPr>
          <p:cNvPr id="39" name="矩形"/>
          <p:cNvSpPr>
            <a:spLocks/>
          </p:cNvSpPr>
          <p:nvPr/>
        </p:nvSpPr>
        <p:spPr>
          <a:xfrm rot="0">
            <a:off x="4663440" y="2322576"/>
            <a:ext cx="4114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9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" name="矩形"/>
          <p:cNvSpPr>
            <a:spLocks/>
          </p:cNvSpPr>
          <p:nvPr/>
        </p:nvSpPr>
        <p:spPr>
          <a:xfrm rot="0">
            <a:off x="5257800" y="2322576"/>
            <a:ext cx="33832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Test run and results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" name="椭圆"/>
          <p:cNvSpPr>
            <a:spLocks/>
          </p:cNvSpPr>
          <p:nvPr/>
        </p:nvSpPr>
        <p:spPr>
          <a:xfrm rot="0">
            <a:off x="4663440" y="2889504"/>
            <a:ext cx="411479" cy="411479"/>
          </a:xfrm>
          <a:prstGeom prst="ellipse"/>
          <a:solidFill>
            <a:srgbClr val="0B4F6C"/>
          </a:solidFill>
          <a:ln w="12700" cmpd="sng" cap="flat">
            <a:noFill/>
            <a:prstDash val="solid"/>
            <a:miter/>
          </a:ln>
        </p:spPr>
      </p:sp>
      <p:sp>
        <p:nvSpPr>
          <p:cNvPr id="42" name="矩形"/>
          <p:cNvSpPr>
            <a:spLocks/>
          </p:cNvSpPr>
          <p:nvPr/>
        </p:nvSpPr>
        <p:spPr>
          <a:xfrm rot="0">
            <a:off x="4663440" y="2889504"/>
            <a:ext cx="4114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10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" name="矩形"/>
          <p:cNvSpPr>
            <a:spLocks/>
          </p:cNvSpPr>
          <p:nvPr/>
        </p:nvSpPr>
        <p:spPr>
          <a:xfrm rot="0">
            <a:off x="5257800" y="2889504"/>
            <a:ext cx="33832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 cases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" name="椭圆"/>
          <p:cNvSpPr>
            <a:spLocks/>
          </p:cNvSpPr>
          <p:nvPr/>
        </p:nvSpPr>
        <p:spPr>
          <a:xfrm rot="0">
            <a:off x="4663440" y="3456431"/>
            <a:ext cx="411479" cy="411479"/>
          </a:xfrm>
          <a:prstGeom prst="ellipse"/>
          <a:solidFill>
            <a:srgbClr val="E8833A"/>
          </a:solidFill>
          <a:ln w="12700" cmpd="sng" cap="flat">
            <a:noFill/>
            <a:prstDash val="solid"/>
            <a:miter/>
          </a:ln>
        </p:spPr>
      </p:sp>
      <p:sp>
        <p:nvSpPr>
          <p:cNvPr id="45" name="矩形"/>
          <p:cNvSpPr>
            <a:spLocks/>
          </p:cNvSpPr>
          <p:nvPr/>
        </p:nvSpPr>
        <p:spPr>
          <a:xfrm rot="0">
            <a:off x="4663440" y="3456431"/>
            <a:ext cx="4114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11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" name="矩形"/>
          <p:cNvSpPr>
            <a:spLocks/>
          </p:cNvSpPr>
          <p:nvPr/>
        </p:nvSpPr>
        <p:spPr>
          <a:xfrm rot="0">
            <a:off x="5257800" y="3456431"/>
            <a:ext cx="33832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Limitations and best practices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" name="椭圆"/>
          <p:cNvSpPr>
            <a:spLocks/>
          </p:cNvSpPr>
          <p:nvPr/>
        </p:nvSpPr>
        <p:spPr>
          <a:xfrm rot="0">
            <a:off x="4663440" y="4023359"/>
            <a:ext cx="411479" cy="411479"/>
          </a:xfrm>
          <a:prstGeom prst="ellipse"/>
          <a:solidFill>
            <a:srgbClr val="E8833A"/>
          </a:solidFill>
          <a:ln w="12700" cmpd="sng" cap="flat">
            <a:noFill/>
            <a:prstDash val="solid"/>
            <a:miter/>
          </a:ln>
        </p:spPr>
      </p:sp>
      <p:sp>
        <p:nvSpPr>
          <p:cNvPr id="48" name="矩形"/>
          <p:cNvSpPr>
            <a:spLocks/>
          </p:cNvSpPr>
          <p:nvPr/>
        </p:nvSpPr>
        <p:spPr>
          <a:xfrm rot="0">
            <a:off x="4663440" y="4023359"/>
            <a:ext cx="4114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12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" name="矩形"/>
          <p:cNvSpPr>
            <a:spLocks/>
          </p:cNvSpPr>
          <p:nvPr/>
        </p:nvSpPr>
        <p:spPr>
          <a:xfrm rot="0">
            <a:off x="5257800" y="4023359"/>
            <a:ext cx="33832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Next improvements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313810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Project Goal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" name="圆角矩形"/>
          <p:cNvSpPr>
            <a:spLocks/>
          </p:cNvSpPr>
          <p:nvPr/>
        </p:nvSpPr>
        <p:spPr>
          <a:xfrm rot="0">
            <a:off x="457200" y="1417320"/>
            <a:ext cx="2615184" cy="274320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54" name="椭圆"/>
          <p:cNvSpPr>
            <a:spLocks/>
          </p:cNvSpPr>
          <p:nvPr/>
        </p:nvSpPr>
        <p:spPr>
          <a:xfrm rot="0">
            <a:off x="685800" y="1645920"/>
            <a:ext cx="640079" cy="640079"/>
          </a:xfrm>
          <a:prstGeom prst="ellipse"/>
          <a:solidFill>
            <a:srgbClr val="E8833A"/>
          </a:solidFill>
          <a:ln w="12700" cmpd="sng" cap="flat">
            <a:noFill/>
            <a:prstDash val="solid"/>
            <a:miter/>
          </a:ln>
        </p:spPr>
      </p:sp>
      <p:sp>
        <p:nvSpPr>
          <p:cNvPr id="55" name="矩形"/>
          <p:cNvSpPr>
            <a:spLocks/>
          </p:cNvSpPr>
          <p:nvPr/>
        </p:nvSpPr>
        <p:spPr>
          <a:xfrm rot="0">
            <a:off x="685800" y="1645920"/>
            <a:ext cx="640079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矩形"/>
          <p:cNvSpPr>
            <a:spLocks/>
          </p:cNvSpPr>
          <p:nvPr/>
        </p:nvSpPr>
        <p:spPr>
          <a:xfrm rot="0">
            <a:off x="685800" y="2468880"/>
            <a:ext cx="21945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Decompose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685800" y="2971799"/>
            <a:ext cx="2194560" cy="1005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Break a complex question into smaller research sub-questions.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" name="圆角矩形"/>
          <p:cNvSpPr>
            <a:spLocks/>
          </p:cNvSpPr>
          <p:nvPr/>
        </p:nvSpPr>
        <p:spPr>
          <a:xfrm rot="0">
            <a:off x="3264408" y="1417320"/>
            <a:ext cx="2615184" cy="274320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59" name="椭圆"/>
          <p:cNvSpPr>
            <a:spLocks/>
          </p:cNvSpPr>
          <p:nvPr/>
        </p:nvSpPr>
        <p:spPr>
          <a:xfrm rot="0">
            <a:off x="3493008" y="1645920"/>
            <a:ext cx="640079" cy="640079"/>
          </a:xfrm>
          <a:prstGeom prst="ellipse"/>
          <a:solidFill>
            <a:srgbClr val="7E57C2"/>
          </a:solidFill>
          <a:ln w="12700" cmpd="sng" cap="flat">
            <a:noFill/>
            <a:prstDash val="solid"/>
            <a:miter/>
          </a:ln>
        </p:spPr>
      </p:sp>
      <p:sp>
        <p:nvSpPr>
          <p:cNvPr id="60" name="矩形"/>
          <p:cNvSpPr>
            <a:spLocks/>
          </p:cNvSpPr>
          <p:nvPr/>
        </p:nvSpPr>
        <p:spPr>
          <a:xfrm rot="0">
            <a:off x="3493008" y="1645920"/>
            <a:ext cx="640079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" name="矩形"/>
          <p:cNvSpPr>
            <a:spLocks/>
          </p:cNvSpPr>
          <p:nvPr/>
        </p:nvSpPr>
        <p:spPr>
          <a:xfrm rot="0">
            <a:off x="3493008" y="2468880"/>
            <a:ext cx="21945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Search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" name="矩形"/>
          <p:cNvSpPr>
            <a:spLocks/>
          </p:cNvSpPr>
          <p:nvPr/>
        </p:nvSpPr>
        <p:spPr>
          <a:xfrm rot="0">
            <a:off x="3493008" y="2971799"/>
            <a:ext cx="2194560" cy="1005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Look up each sub-question on the live web with Tavily.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" name="圆角矩形"/>
          <p:cNvSpPr>
            <a:spLocks/>
          </p:cNvSpPr>
          <p:nvPr/>
        </p:nvSpPr>
        <p:spPr>
          <a:xfrm rot="0">
            <a:off x="6071616" y="1417320"/>
            <a:ext cx="2615184" cy="274320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64" name="椭圆"/>
          <p:cNvSpPr>
            <a:spLocks/>
          </p:cNvSpPr>
          <p:nvPr/>
        </p:nvSpPr>
        <p:spPr>
          <a:xfrm rot="0">
            <a:off x="6300216" y="1645920"/>
            <a:ext cx="640080" cy="640079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65" name="矩形"/>
          <p:cNvSpPr>
            <a:spLocks/>
          </p:cNvSpPr>
          <p:nvPr/>
        </p:nvSpPr>
        <p:spPr>
          <a:xfrm rot="0">
            <a:off x="6300216" y="1645920"/>
            <a:ext cx="64008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" name="矩形"/>
          <p:cNvSpPr>
            <a:spLocks/>
          </p:cNvSpPr>
          <p:nvPr/>
        </p:nvSpPr>
        <p:spPr>
          <a:xfrm rot="0">
            <a:off x="6300216" y="2468880"/>
            <a:ext cx="21945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Compare and cite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" name="矩形"/>
          <p:cNvSpPr>
            <a:spLocks/>
          </p:cNvSpPr>
          <p:nvPr/>
        </p:nvSpPr>
        <p:spPr>
          <a:xfrm rot="0">
            <a:off x="6300216" y="2971799"/>
            <a:ext cx="2194560" cy="1005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Compare findings and write a structured answer with sources.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" name="矩形"/>
          <p:cNvSpPr>
            <a:spLocks/>
          </p:cNvSpPr>
          <p:nvPr/>
        </p:nvSpPr>
        <p:spPr>
          <a:xfrm rot="0">
            <a:off x="457200" y="4389120"/>
            <a:ext cx="82296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1" u="none" strike="noStrike" kern="1200" cap="none" spc="0" baseline="0">
                <a:solidFill>
                  <a:srgbClr val="0B4F6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Live search keeps answers current, and every answer comes with sources.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529306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Why a Research Agent?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" name="圆角矩形"/>
          <p:cNvSpPr>
            <a:spLocks/>
          </p:cNvSpPr>
          <p:nvPr/>
        </p:nvSpPr>
        <p:spPr>
          <a:xfrm rot="0">
            <a:off x="45720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73" name="矩形"/>
          <p:cNvSpPr>
            <a:spLocks/>
          </p:cNvSpPr>
          <p:nvPr/>
        </p:nvSpPr>
        <p:spPr>
          <a:xfrm rot="0">
            <a:off x="685800" y="1463040"/>
            <a:ext cx="347472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E8833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 plain chatbot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4" name="矩形"/>
          <p:cNvSpPr>
            <a:spLocks/>
          </p:cNvSpPr>
          <p:nvPr/>
        </p:nvSpPr>
        <p:spPr>
          <a:xfrm rot="0">
            <a:off x="685800" y="2011679"/>
            <a:ext cx="3474720" cy="2377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Answers from training data only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Prices and news can be outdated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Gives no sources to check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Handles one big question in one shot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" name="圆角矩形"/>
          <p:cNvSpPr>
            <a:spLocks/>
          </p:cNvSpPr>
          <p:nvPr/>
        </p:nvSpPr>
        <p:spPr>
          <a:xfrm rot="0">
            <a:off x="475488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0B4F6C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76" name="矩形"/>
          <p:cNvSpPr>
            <a:spLocks/>
          </p:cNvSpPr>
          <p:nvPr/>
        </p:nvSpPr>
        <p:spPr>
          <a:xfrm rot="0">
            <a:off x="4983480" y="1463040"/>
            <a:ext cx="347472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7FE0C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Our research agent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" name="矩形"/>
          <p:cNvSpPr>
            <a:spLocks/>
          </p:cNvSpPr>
          <p:nvPr/>
        </p:nvSpPr>
        <p:spPr>
          <a:xfrm rot="0">
            <a:off x="4983480" y="2011679"/>
            <a:ext cx="3474720" cy="2377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Searches the live web every time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Splits the question into sub-questions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Compares sources and cites them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Remembers context for follow-ups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45729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Workflow Architecture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81" name="图片" descr="d1_architecture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57200" y="1371600"/>
            <a:ext cx="6035039" cy="3136392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2" name="矩形"/>
          <p:cNvSpPr>
            <a:spLocks/>
          </p:cNvSpPr>
          <p:nvPr/>
        </p:nvSpPr>
        <p:spPr>
          <a:xfrm rot="0">
            <a:off x="6766559" y="1417320"/>
            <a:ext cx="201167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4F6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AI Agent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plans the research and writes the answer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3" name="矩形"/>
          <p:cNvSpPr>
            <a:spLocks/>
          </p:cNvSpPr>
          <p:nvPr/>
        </p:nvSpPr>
        <p:spPr>
          <a:xfrm rot="0">
            <a:off x="6766559" y="2194560"/>
            <a:ext cx="201167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4F6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Gemini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reasoning model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4" name="矩形"/>
          <p:cNvSpPr>
            <a:spLocks/>
          </p:cNvSpPr>
          <p:nvPr/>
        </p:nvSpPr>
        <p:spPr>
          <a:xfrm rot="0">
            <a:off x="6766559" y="2971799"/>
            <a:ext cx="201167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4F6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Memory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keeps conversation context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 rot="0">
            <a:off x="6766559" y="3749040"/>
            <a:ext cx="201167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4F6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Tavily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web search tool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437181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Node-by-Node Roles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9" name="圆角矩形"/>
          <p:cNvSpPr>
            <a:spLocks/>
          </p:cNvSpPr>
          <p:nvPr/>
        </p:nvSpPr>
        <p:spPr>
          <a:xfrm rot="0">
            <a:off x="457200" y="1280160"/>
            <a:ext cx="2590799" cy="150875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90" name="椭圆"/>
          <p:cNvSpPr>
            <a:spLocks/>
          </p:cNvSpPr>
          <p:nvPr/>
        </p:nvSpPr>
        <p:spPr>
          <a:xfrm rot="0">
            <a:off x="640080" y="1463040"/>
            <a:ext cx="164592" cy="164591"/>
          </a:xfrm>
          <a:prstGeom prst="ellipse"/>
          <a:solidFill>
            <a:srgbClr val="E8833A"/>
          </a:solidFill>
          <a:ln w="12700" cmpd="sng" cap="flat">
            <a:noFill/>
            <a:prstDash val="solid"/>
            <a:miter/>
          </a:ln>
        </p:spPr>
      </p:sp>
      <p:sp>
        <p:nvSpPr>
          <p:cNvPr id="91" name="矩形"/>
          <p:cNvSpPr>
            <a:spLocks/>
          </p:cNvSpPr>
          <p:nvPr/>
        </p:nvSpPr>
        <p:spPr>
          <a:xfrm rot="0">
            <a:off x="914400" y="1389888"/>
            <a:ext cx="199644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E8833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Manual Trigger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2" name="矩形"/>
          <p:cNvSpPr>
            <a:spLocks/>
          </p:cNvSpPr>
          <p:nvPr/>
        </p:nvSpPr>
        <p:spPr>
          <a:xfrm rot="0">
            <a:off x="640080" y="1810512"/>
            <a:ext cx="2225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Starts a test run and passes 1 item, the user question, to the agent.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3" name="圆角矩形"/>
          <p:cNvSpPr>
            <a:spLocks/>
          </p:cNvSpPr>
          <p:nvPr/>
        </p:nvSpPr>
        <p:spPr>
          <a:xfrm rot="0">
            <a:off x="3276600" y="1280160"/>
            <a:ext cx="2590800" cy="150875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94" name="椭圆"/>
          <p:cNvSpPr>
            <a:spLocks/>
          </p:cNvSpPr>
          <p:nvPr/>
        </p:nvSpPr>
        <p:spPr>
          <a:xfrm rot="0">
            <a:off x="3459479" y="1463040"/>
            <a:ext cx="164592" cy="164591"/>
          </a:xfrm>
          <a:prstGeom prst="ellipse"/>
          <a:solidFill>
            <a:srgbClr val="0B4F6C"/>
          </a:solidFill>
          <a:ln w="12700" cmpd="sng" cap="flat">
            <a:noFill/>
            <a:prstDash val="solid"/>
            <a:miter/>
          </a:ln>
        </p:spPr>
      </p:sp>
      <p:sp>
        <p:nvSpPr>
          <p:cNvPr id="95" name="矩形"/>
          <p:cNvSpPr>
            <a:spLocks/>
          </p:cNvSpPr>
          <p:nvPr/>
        </p:nvSpPr>
        <p:spPr>
          <a:xfrm rot="0">
            <a:off x="3733800" y="1389888"/>
            <a:ext cx="199644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AI Agent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6" name="矩形"/>
          <p:cNvSpPr>
            <a:spLocks/>
          </p:cNvSpPr>
          <p:nvPr/>
        </p:nvSpPr>
        <p:spPr>
          <a:xfrm rot="0">
            <a:off x="3459479" y="1810512"/>
            <a:ext cx="2225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orchestrator. Plans, calls tools, and writes the final answer. Retry on fail is on.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7" name="圆角矩形"/>
          <p:cNvSpPr>
            <a:spLocks/>
          </p:cNvSpPr>
          <p:nvPr/>
        </p:nvSpPr>
        <p:spPr>
          <a:xfrm rot="0">
            <a:off x="6096000" y="1280160"/>
            <a:ext cx="2590800" cy="150875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98" name="椭圆"/>
          <p:cNvSpPr>
            <a:spLocks/>
          </p:cNvSpPr>
          <p:nvPr/>
        </p:nvSpPr>
        <p:spPr>
          <a:xfrm rot="0">
            <a:off x="6278880" y="1463040"/>
            <a:ext cx="164592" cy="164591"/>
          </a:xfrm>
          <a:prstGeom prst="ellipse"/>
          <a:solidFill>
            <a:srgbClr val="7E57C2"/>
          </a:solidFill>
          <a:ln w="12700" cmpd="sng" cap="flat">
            <a:noFill/>
            <a:prstDash val="solid"/>
            <a:miter/>
          </a:ln>
        </p:spPr>
      </p:sp>
      <p:sp>
        <p:nvSpPr>
          <p:cNvPr id="99" name="矩形"/>
          <p:cNvSpPr>
            <a:spLocks/>
          </p:cNvSpPr>
          <p:nvPr/>
        </p:nvSpPr>
        <p:spPr>
          <a:xfrm rot="0">
            <a:off x="6553200" y="1389888"/>
            <a:ext cx="199644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7E57C2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Gemini Chat Model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0" name="矩形"/>
          <p:cNvSpPr>
            <a:spLocks/>
          </p:cNvSpPr>
          <p:nvPr/>
        </p:nvSpPr>
        <p:spPr>
          <a:xfrm rot="0">
            <a:off x="6278880" y="1810512"/>
            <a:ext cx="2225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language model used for reasoning and writing the report.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1" name="圆角矩形"/>
          <p:cNvSpPr>
            <a:spLocks/>
          </p:cNvSpPr>
          <p:nvPr/>
        </p:nvSpPr>
        <p:spPr>
          <a:xfrm rot="0">
            <a:off x="457200" y="3017519"/>
            <a:ext cx="2590799" cy="150875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02" name="椭圆"/>
          <p:cNvSpPr>
            <a:spLocks/>
          </p:cNvSpPr>
          <p:nvPr/>
        </p:nvSpPr>
        <p:spPr>
          <a:xfrm rot="0">
            <a:off x="640080" y="3200400"/>
            <a:ext cx="164592" cy="164592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103" name="矩形"/>
          <p:cNvSpPr>
            <a:spLocks/>
          </p:cNvSpPr>
          <p:nvPr/>
        </p:nvSpPr>
        <p:spPr>
          <a:xfrm rot="0">
            <a:off x="914400" y="3127248"/>
            <a:ext cx="199644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F9E89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Simple Memory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4" name="矩形"/>
          <p:cNvSpPr>
            <a:spLocks/>
          </p:cNvSpPr>
          <p:nvPr/>
        </p:nvSpPr>
        <p:spPr>
          <a:xfrm rot="0">
            <a:off x="640080" y="3547872"/>
            <a:ext cx="2225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Stores recent messages so follow-up questions keep their context.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5" name="圆角矩形"/>
          <p:cNvSpPr>
            <a:spLocks/>
          </p:cNvSpPr>
          <p:nvPr/>
        </p:nvSpPr>
        <p:spPr>
          <a:xfrm rot="0">
            <a:off x="3276600" y="3017519"/>
            <a:ext cx="2590800" cy="150875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06" name="椭圆"/>
          <p:cNvSpPr>
            <a:spLocks/>
          </p:cNvSpPr>
          <p:nvPr/>
        </p:nvSpPr>
        <p:spPr>
          <a:xfrm rot="0">
            <a:off x="3459479" y="3200400"/>
            <a:ext cx="164592" cy="164592"/>
          </a:xfrm>
          <a:prstGeom prst="ellipse"/>
          <a:solidFill>
            <a:srgbClr val="C2185B"/>
          </a:solidFill>
          <a:ln w="12700" cmpd="sng" cap="flat">
            <a:noFill/>
            <a:prstDash val="solid"/>
            <a:miter/>
          </a:ln>
        </p:spPr>
      </p:sp>
      <p:sp>
        <p:nvSpPr>
          <p:cNvPr id="107" name="矩形"/>
          <p:cNvSpPr>
            <a:spLocks/>
          </p:cNvSpPr>
          <p:nvPr/>
        </p:nvSpPr>
        <p:spPr>
          <a:xfrm rot="0">
            <a:off x="3733800" y="3127248"/>
            <a:ext cx="199644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C2185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Search in Tavily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8" name="矩形"/>
          <p:cNvSpPr>
            <a:spLocks/>
          </p:cNvSpPr>
          <p:nvPr/>
        </p:nvSpPr>
        <p:spPr>
          <a:xfrm rot="0">
            <a:off x="3459479" y="3547872"/>
            <a:ext cx="2225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Web search tool. The agent calls it once per sub-question.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9" name="圆角矩形"/>
          <p:cNvSpPr>
            <a:spLocks/>
          </p:cNvSpPr>
          <p:nvPr/>
        </p:nvSpPr>
        <p:spPr>
          <a:xfrm rot="0">
            <a:off x="6096000" y="3017519"/>
            <a:ext cx="2590800" cy="150875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10" name="椭圆"/>
          <p:cNvSpPr>
            <a:spLocks/>
          </p:cNvSpPr>
          <p:nvPr/>
        </p:nvSpPr>
        <p:spPr>
          <a:xfrm rot="0">
            <a:off x="6278880" y="3200400"/>
            <a:ext cx="164592" cy="164592"/>
          </a:xfrm>
          <a:prstGeom prst="ellipse"/>
          <a:solidFill>
            <a:srgbClr val="2F80C9"/>
          </a:solidFill>
          <a:ln w="12700" cmpd="sng" cap="flat">
            <a:noFill/>
            <a:prstDash val="solid"/>
            <a:miter/>
          </a:ln>
        </p:spPr>
      </p:sp>
      <p:sp>
        <p:nvSpPr>
          <p:cNvPr id="111" name="矩形"/>
          <p:cNvSpPr>
            <a:spLocks/>
          </p:cNvSpPr>
          <p:nvPr/>
        </p:nvSpPr>
        <p:spPr>
          <a:xfrm rot="0">
            <a:off x="6553200" y="3127248"/>
            <a:ext cx="199644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F80C9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Edit Fields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2" name="矩形"/>
          <p:cNvSpPr>
            <a:spLocks/>
          </p:cNvSpPr>
          <p:nvPr/>
        </p:nvSpPr>
        <p:spPr>
          <a:xfrm rot="0">
            <a:off x="6278880" y="3547872"/>
            <a:ext cx="2225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Keeps the final answer in a clean field for the next node.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772090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How the Research Pipeline Works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116" name="图片" descr="d2_gold_pipeline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57200" y="1188720"/>
            <a:ext cx="8229600" cy="3593592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288750916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How the Agent Thinks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0" name="圆角矩形"/>
          <p:cNvSpPr>
            <a:spLocks/>
          </p:cNvSpPr>
          <p:nvPr/>
        </p:nvSpPr>
        <p:spPr>
          <a:xfrm rot="0">
            <a:off x="457200" y="1371600"/>
            <a:ext cx="1737360" cy="1554480"/>
          </a:xfrm>
          <a:prstGeom prst="roundRect">
            <a:avLst>
              <a:gd name="adj" fmla="val 7060"/>
            </a:avLst>
          </a:prstGeom>
          <a:solidFill>
            <a:srgbClr val="E8833A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21" name="矩形"/>
          <p:cNvSpPr>
            <a:spLocks/>
          </p:cNvSpPr>
          <p:nvPr/>
        </p:nvSpPr>
        <p:spPr>
          <a:xfrm rot="0">
            <a:off x="594360" y="1481328"/>
            <a:ext cx="146304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Plan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2" name="矩形"/>
          <p:cNvSpPr>
            <a:spLocks/>
          </p:cNvSpPr>
          <p:nvPr/>
        </p:nvSpPr>
        <p:spPr>
          <a:xfrm rot="0">
            <a:off x="594360" y="1965960"/>
            <a:ext cx="1463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Split the question into sub-questions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3" name="右箭头"/>
          <p:cNvSpPr>
            <a:spLocks/>
          </p:cNvSpPr>
          <p:nvPr/>
        </p:nvSpPr>
        <p:spPr>
          <a:xfrm rot="0">
            <a:off x="2240280" y="2011679"/>
            <a:ext cx="338327" cy="274319"/>
          </a:xfrm>
          <a:prstGeom prst="rightArrow">
            <a:avLst>
              <a:gd name="adj1" fmla="val 50000"/>
              <a:gd name="adj2" fmla="val 48745"/>
            </a:avLst>
          </a:prstGeom>
          <a:solidFill>
            <a:srgbClr val="0B4F6C"/>
          </a:solidFill>
          <a:ln w="12700" cmpd="sng" cap="flat">
            <a:noFill/>
            <a:prstDash val="solid"/>
            <a:miter/>
          </a:ln>
        </p:spPr>
      </p:sp>
      <p:sp>
        <p:nvSpPr>
          <p:cNvPr id="124" name="圆角矩形"/>
          <p:cNvSpPr>
            <a:spLocks/>
          </p:cNvSpPr>
          <p:nvPr/>
        </p:nvSpPr>
        <p:spPr>
          <a:xfrm rot="0">
            <a:off x="2624328" y="1371600"/>
            <a:ext cx="1737360" cy="1554480"/>
          </a:xfrm>
          <a:prstGeom prst="roundRect">
            <a:avLst>
              <a:gd name="adj" fmla="val 7060"/>
            </a:avLst>
          </a:prstGeom>
          <a:solidFill>
            <a:srgbClr val="C2185B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25" name="矩形"/>
          <p:cNvSpPr>
            <a:spLocks/>
          </p:cNvSpPr>
          <p:nvPr/>
        </p:nvSpPr>
        <p:spPr>
          <a:xfrm rot="0">
            <a:off x="2761488" y="1481328"/>
            <a:ext cx="146303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Search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6" name="矩形"/>
          <p:cNvSpPr>
            <a:spLocks/>
          </p:cNvSpPr>
          <p:nvPr/>
        </p:nvSpPr>
        <p:spPr>
          <a:xfrm rot="0">
            <a:off x="2761488" y="1965960"/>
            <a:ext cx="1463039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Call Tavily for one sub-question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7" name="右箭头"/>
          <p:cNvSpPr>
            <a:spLocks/>
          </p:cNvSpPr>
          <p:nvPr/>
        </p:nvSpPr>
        <p:spPr>
          <a:xfrm rot="0">
            <a:off x="4407408" y="2011679"/>
            <a:ext cx="338327" cy="274319"/>
          </a:xfrm>
          <a:prstGeom prst="rightArrow">
            <a:avLst>
              <a:gd name="adj1" fmla="val 50000"/>
              <a:gd name="adj2" fmla="val 48745"/>
            </a:avLst>
          </a:prstGeom>
          <a:solidFill>
            <a:srgbClr val="0B4F6C"/>
          </a:solidFill>
          <a:ln w="12700" cmpd="sng" cap="flat">
            <a:noFill/>
            <a:prstDash val="solid"/>
            <a:miter/>
          </a:ln>
        </p:spPr>
      </p:sp>
      <p:sp>
        <p:nvSpPr>
          <p:cNvPr id="128" name="圆角矩形"/>
          <p:cNvSpPr>
            <a:spLocks/>
          </p:cNvSpPr>
          <p:nvPr/>
        </p:nvSpPr>
        <p:spPr>
          <a:xfrm rot="0">
            <a:off x="4791456" y="1371600"/>
            <a:ext cx="1737360" cy="1554480"/>
          </a:xfrm>
          <a:prstGeom prst="roundRect">
            <a:avLst>
              <a:gd name="adj" fmla="val 7060"/>
            </a:avLst>
          </a:prstGeom>
          <a:solidFill>
            <a:srgbClr val="7E57C2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29" name="矩形"/>
          <p:cNvSpPr>
            <a:spLocks/>
          </p:cNvSpPr>
          <p:nvPr/>
        </p:nvSpPr>
        <p:spPr>
          <a:xfrm rot="0">
            <a:off x="4928616" y="1481328"/>
            <a:ext cx="146304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Observe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0" name="矩形"/>
          <p:cNvSpPr>
            <a:spLocks/>
          </p:cNvSpPr>
          <p:nvPr/>
        </p:nvSpPr>
        <p:spPr>
          <a:xfrm rot="0">
            <a:off x="4928616" y="1965960"/>
            <a:ext cx="1463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Read results and note sources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1" name="右箭头"/>
          <p:cNvSpPr>
            <a:spLocks/>
          </p:cNvSpPr>
          <p:nvPr/>
        </p:nvSpPr>
        <p:spPr>
          <a:xfrm rot="0">
            <a:off x="6574535" y="2011679"/>
            <a:ext cx="338328" cy="274319"/>
          </a:xfrm>
          <a:prstGeom prst="rightArrow">
            <a:avLst>
              <a:gd name="adj1" fmla="val 50000"/>
              <a:gd name="adj2" fmla="val 48745"/>
            </a:avLst>
          </a:prstGeom>
          <a:solidFill>
            <a:srgbClr val="0B4F6C"/>
          </a:solidFill>
          <a:ln w="12700" cmpd="sng" cap="flat">
            <a:noFill/>
            <a:prstDash val="solid"/>
            <a:miter/>
          </a:ln>
        </p:spPr>
      </p:sp>
      <p:sp>
        <p:nvSpPr>
          <p:cNvPr id="132" name="圆角矩形"/>
          <p:cNvSpPr>
            <a:spLocks/>
          </p:cNvSpPr>
          <p:nvPr/>
        </p:nvSpPr>
        <p:spPr>
          <a:xfrm rot="0">
            <a:off x="6958584" y="1371600"/>
            <a:ext cx="1737360" cy="1554480"/>
          </a:xfrm>
          <a:prstGeom prst="roundRect">
            <a:avLst>
              <a:gd name="adj" fmla="val 7060"/>
            </a:avLst>
          </a:prstGeom>
          <a:solidFill>
            <a:srgbClr val="1F9E89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33" name="矩形"/>
          <p:cNvSpPr>
            <a:spLocks/>
          </p:cNvSpPr>
          <p:nvPr/>
        </p:nvSpPr>
        <p:spPr>
          <a:xfrm rot="0">
            <a:off x="7095744" y="1481328"/>
            <a:ext cx="146304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Answer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4" name="矩形"/>
          <p:cNvSpPr>
            <a:spLocks/>
          </p:cNvSpPr>
          <p:nvPr/>
        </p:nvSpPr>
        <p:spPr>
          <a:xfrm rot="0">
            <a:off x="7095744" y="1965960"/>
            <a:ext cx="1463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Write a cited comparison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5" name="圆角矩形"/>
          <p:cNvSpPr>
            <a:spLocks/>
          </p:cNvSpPr>
          <p:nvPr/>
        </p:nvSpPr>
        <p:spPr>
          <a:xfrm rot="0">
            <a:off x="457200" y="320040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36" name="椭圆"/>
          <p:cNvSpPr>
            <a:spLocks/>
          </p:cNvSpPr>
          <p:nvPr/>
        </p:nvSpPr>
        <p:spPr>
          <a:xfrm rot="0">
            <a:off x="640080" y="3383279"/>
            <a:ext cx="164592" cy="164592"/>
          </a:xfrm>
          <a:prstGeom prst="ellipse"/>
          <a:solidFill>
            <a:srgbClr val="0B4F6C"/>
          </a:solidFill>
          <a:ln w="12700" cmpd="sng" cap="flat">
            <a:noFill/>
            <a:prstDash val="solid"/>
            <a:miter/>
          </a:ln>
        </p:spPr>
      </p:sp>
      <p:sp>
        <p:nvSpPr>
          <p:cNvPr id="137" name="矩形"/>
          <p:cNvSpPr>
            <a:spLocks/>
          </p:cNvSpPr>
          <p:nvPr/>
        </p:nvSpPr>
        <p:spPr>
          <a:xfrm rot="0">
            <a:off x="914400" y="3310127"/>
            <a:ext cx="763524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The loop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8" name="矩形"/>
          <p:cNvSpPr>
            <a:spLocks/>
          </p:cNvSpPr>
          <p:nvPr/>
        </p:nvSpPr>
        <p:spPr>
          <a:xfrm rot="0">
            <a:off x="640080" y="3730752"/>
            <a:ext cx="786384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After each search the agent decides: do I have enough evidence, or should I search again?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Tavily ran 3 times in our gold test, then Gemini wrote the final answer.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26600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Setup Steps in n8n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2" name="椭圆"/>
          <p:cNvSpPr>
            <a:spLocks/>
          </p:cNvSpPr>
          <p:nvPr/>
        </p:nvSpPr>
        <p:spPr>
          <a:xfrm rot="0">
            <a:off x="457200" y="1280160"/>
            <a:ext cx="502919" cy="502919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143" name="矩形"/>
          <p:cNvSpPr>
            <a:spLocks/>
          </p:cNvSpPr>
          <p:nvPr/>
        </p:nvSpPr>
        <p:spPr>
          <a:xfrm rot="0">
            <a:off x="457200" y="1280160"/>
            <a:ext cx="502919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4" name="矩形"/>
          <p:cNvSpPr>
            <a:spLocks/>
          </p:cNvSpPr>
          <p:nvPr/>
        </p:nvSpPr>
        <p:spPr>
          <a:xfrm rot="0">
            <a:off x="1188720" y="1280160"/>
            <a:ext cx="749808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Add a Manual Trigger and connect it to an AI Agent node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5" name="椭圆"/>
          <p:cNvSpPr>
            <a:spLocks/>
          </p:cNvSpPr>
          <p:nvPr/>
        </p:nvSpPr>
        <p:spPr>
          <a:xfrm rot="0">
            <a:off x="457200" y="1938527"/>
            <a:ext cx="502919" cy="502919"/>
          </a:xfrm>
          <a:prstGeom prst="ellipse"/>
          <a:solidFill>
            <a:srgbClr val="0B4F6C"/>
          </a:solidFill>
          <a:ln w="12700" cmpd="sng" cap="flat">
            <a:noFill/>
            <a:prstDash val="solid"/>
            <a:miter/>
          </a:ln>
        </p:spPr>
      </p:sp>
      <p:sp>
        <p:nvSpPr>
          <p:cNvPr id="146" name="矩形"/>
          <p:cNvSpPr>
            <a:spLocks/>
          </p:cNvSpPr>
          <p:nvPr/>
        </p:nvSpPr>
        <p:spPr>
          <a:xfrm rot="0">
            <a:off x="457200" y="1938527"/>
            <a:ext cx="502919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7" name="矩形"/>
          <p:cNvSpPr>
            <a:spLocks/>
          </p:cNvSpPr>
          <p:nvPr/>
        </p:nvSpPr>
        <p:spPr>
          <a:xfrm rot="0">
            <a:off x="1188720" y="1938527"/>
            <a:ext cx="749808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Attach Google Gemini Chat Model with your API credential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8" name="椭圆"/>
          <p:cNvSpPr>
            <a:spLocks/>
          </p:cNvSpPr>
          <p:nvPr/>
        </p:nvSpPr>
        <p:spPr>
          <a:xfrm rot="0">
            <a:off x="457200" y="2596896"/>
            <a:ext cx="502919" cy="502920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149" name="矩形"/>
          <p:cNvSpPr>
            <a:spLocks/>
          </p:cNvSpPr>
          <p:nvPr/>
        </p:nvSpPr>
        <p:spPr>
          <a:xfrm rot="0">
            <a:off x="457200" y="2596896"/>
            <a:ext cx="502919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0" name="矩形"/>
          <p:cNvSpPr>
            <a:spLocks/>
          </p:cNvSpPr>
          <p:nvPr/>
        </p:nvSpPr>
        <p:spPr>
          <a:xfrm rot="0">
            <a:off x="1188720" y="2596896"/>
            <a:ext cx="749808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Attach Simple Memory so the agent keeps context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1" name="椭圆"/>
          <p:cNvSpPr>
            <a:spLocks/>
          </p:cNvSpPr>
          <p:nvPr/>
        </p:nvSpPr>
        <p:spPr>
          <a:xfrm rot="0">
            <a:off x="457200" y="3255264"/>
            <a:ext cx="502919" cy="502920"/>
          </a:xfrm>
          <a:prstGeom prst="ellipse"/>
          <a:solidFill>
            <a:srgbClr val="0B4F6C"/>
          </a:solidFill>
          <a:ln w="12700" cmpd="sng" cap="flat">
            <a:noFill/>
            <a:prstDash val="solid"/>
            <a:miter/>
          </a:ln>
        </p:spPr>
      </p:sp>
      <p:sp>
        <p:nvSpPr>
          <p:cNvPr id="152" name="矩形"/>
          <p:cNvSpPr>
            <a:spLocks/>
          </p:cNvSpPr>
          <p:nvPr/>
        </p:nvSpPr>
        <p:spPr>
          <a:xfrm rot="0">
            <a:off x="457200" y="3255264"/>
            <a:ext cx="502919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3" name="矩形"/>
          <p:cNvSpPr>
            <a:spLocks/>
          </p:cNvSpPr>
          <p:nvPr/>
        </p:nvSpPr>
        <p:spPr>
          <a:xfrm rot="0">
            <a:off x="1188720" y="3255264"/>
            <a:ext cx="749808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Add Search in Tavily as a tool with your Tavily API key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4" name="椭圆"/>
          <p:cNvSpPr>
            <a:spLocks/>
          </p:cNvSpPr>
          <p:nvPr/>
        </p:nvSpPr>
        <p:spPr>
          <a:xfrm rot="0">
            <a:off x="457200" y="3913632"/>
            <a:ext cx="502919" cy="502920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155" name="矩形"/>
          <p:cNvSpPr>
            <a:spLocks/>
          </p:cNvSpPr>
          <p:nvPr/>
        </p:nvSpPr>
        <p:spPr>
          <a:xfrm rot="0">
            <a:off x="457200" y="3913632"/>
            <a:ext cx="502919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6" name="矩形"/>
          <p:cNvSpPr>
            <a:spLocks/>
          </p:cNvSpPr>
          <p:nvPr/>
        </p:nvSpPr>
        <p:spPr>
          <a:xfrm rot="0">
            <a:off x="1188720" y="3913632"/>
            <a:ext cx="749808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Connect Edit Fields, then click Execute workflow to test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25197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System Prompt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0" name="圆角矩形"/>
          <p:cNvSpPr>
            <a:spLocks/>
          </p:cNvSpPr>
          <p:nvPr/>
        </p:nvSpPr>
        <p:spPr>
          <a:xfrm rot="0">
            <a:off x="457200" y="1280160"/>
            <a:ext cx="8229600" cy="2834640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61" name="矩形"/>
          <p:cNvSpPr>
            <a:spLocks/>
          </p:cNvSpPr>
          <p:nvPr/>
        </p:nvSpPr>
        <p:spPr>
          <a:xfrm rot="0">
            <a:off x="731520" y="1463040"/>
            <a:ext cx="7680960" cy="24688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You are a Deep Research Assistant for gold prices in India.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1. Break the question into sub-questions (city, 22K, 24K).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2. You MUST call the Tavily search tool. Never answer from memory.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3. Use at most 4 searches, then write the final answer.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4. Use only results from the last 7 days. Ignore older dates.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5. Show date, unit and source URL for every price.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2" name="矩形"/>
          <p:cNvSpPr>
            <a:spLocks/>
          </p:cNvSpPr>
          <p:nvPr/>
        </p:nvSpPr>
        <p:spPr>
          <a:xfrm rot="0">
            <a:off x="457200" y="4343400"/>
            <a:ext cx="82296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1" u="none" strike="noStrike" kern="1200" cap="none" spc="0" baseline="0">
                <a:solidFill>
                  <a:srgbClr val="0B4F6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Paste into AI Agent node &gt; Options &gt; System Message.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21846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Test Run: Gold Price, 1 Oct 2026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166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457200" y="1325880"/>
          <a:ext cx="5394960" cy="91440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280147"/>
                <a:gridCol w="1463027"/>
                <a:gridCol w="1463027"/>
                <a:gridCol w="1188707"/>
              </a:tblGrid>
              <a:tr h="548631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City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22K (10 g)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24K (10 g)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Source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48631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1B3A4B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Hyderabad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1B3A4B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Rs 1,37,097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1B3A4B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Rs 1,49,560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1B3A4B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LiveMint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31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1B3A4B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Chennai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1B3A4B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Rs 1,37,216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1B3A4B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Rs 1,49,690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1B3A4B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LiveMint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B8D4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" name="矩形"/>
          <p:cNvSpPr>
            <a:spLocks/>
          </p:cNvSpPr>
          <p:nvPr/>
        </p:nvSpPr>
        <p:spPr>
          <a:xfrm rot="0">
            <a:off x="457200" y="3108960"/>
            <a:ext cx="539496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Chennai is slightly higher than Hyderabad for both karats. Table shows the cities visible in the run output.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8" name="圆角矩形"/>
          <p:cNvSpPr>
            <a:spLocks/>
          </p:cNvSpPr>
          <p:nvPr/>
        </p:nvSpPr>
        <p:spPr>
          <a:xfrm rot="0">
            <a:off x="6217920" y="1325880"/>
            <a:ext cx="2468880" cy="868680"/>
          </a:xfrm>
          <a:prstGeom prst="roundRect">
            <a:avLst>
              <a:gd name="adj" fmla="val 12634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69" name="矩形"/>
          <p:cNvSpPr>
            <a:spLocks/>
          </p:cNvSpPr>
          <p:nvPr/>
        </p:nvSpPr>
        <p:spPr>
          <a:xfrm rot="0">
            <a:off x="6400800" y="1325880"/>
            <a:ext cx="731519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7E57C2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0" name="矩形"/>
          <p:cNvSpPr>
            <a:spLocks/>
          </p:cNvSpPr>
          <p:nvPr/>
        </p:nvSpPr>
        <p:spPr>
          <a:xfrm rot="0">
            <a:off x="7132320" y="1325880"/>
            <a:ext cx="1463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Gemini calls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1" name="圆角矩形"/>
          <p:cNvSpPr>
            <a:spLocks/>
          </p:cNvSpPr>
          <p:nvPr/>
        </p:nvSpPr>
        <p:spPr>
          <a:xfrm rot="0">
            <a:off x="6217920" y="2331720"/>
            <a:ext cx="2468880" cy="868680"/>
          </a:xfrm>
          <a:prstGeom prst="roundRect">
            <a:avLst>
              <a:gd name="adj" fmla="val 12634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72" name="矩形"/>
          <p:cNvSpPr>
            <a:spLocks/>
          </p:cNvSpPr>
          <p:nvPr/>
        </p:nvSpPr>
        <p:spPr>
          <a:xfrm rot="0">
            <a:off x="6400800" y="2331720"/>
            <a:ext cx="731519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C2185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3" name="矩形"/>
          <p:cNvSpPr>
            <a:spLocks/>
          </p:cNvSpPr>
          <p:nvPr/>
        </p:nvSpPr>
        <p:spPr>
          <a:xfrm rot="0">
            <a:off x="7132320" y="2331720"/>
            <a:ext cx="1463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Tavily searches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4" name="圆角矩形"/>
          <p:cNvSpPr>
            <a:spLocks/>
          </p:cNvSpPr>
          <p:nvPr/>
        </p:nvSpPr>
        <p:spPr>
          <a:xfrm rot="0">
            <a:off x="6217920" y="3337560"/>
            <a:ext cx="2468880" cy="868680"/>
          </a:xfrm>
          <a:prstGeom prst="roundRect">
            <a:avLst>
              <a:gd name="adj" fmla="val 12634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75" name="矩形"/>
          <p:cNvSpPr>
            <a:spLocks/>
          </p:cNvSpPr>
          <p:nvPr/>
        </p:nvSpPr>
        <p:spPr>
          <a:xfrm rot="0">
            <a:off x="6400800" y="3337560"/>
            <a:ext cx="731519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F9E89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6" name="矩形"/>
          <p:cNvSpPr>
            <a:spLocks/>
          </p:cNvSpPr>
          <p:nvPr/>
        </p:nvSpPr>
        <p:spPr>
          <a:xfrm rot="0">
            <a:off x="7132320" y="3337560"/>
            <a:ext cx="1463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Memory reads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7" name="矩形"/>
          <p:cNvSpPr>
            <a:spLocks/>
          </p:cNvSpPr>
          <p:nvPr/>
        </p:nvSpPr>
        <p:spPr>
          <a:xfrm rot="0">
            <a:off x="457200" y="4389120"/>
            <a:ext cx="82296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rgbClr val="0B4F6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Verify with a jeweller or bank site before buying. Prices change during the day.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723978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Use Cases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1" name="圆角矩形"/>
          <p:cNvSpPr>
            <a:spLocks/>
          </p:cNvSpPr>
          <p:nvPr/>
        </p:nvSpPr>
        <p:spPr>
          <a:xfrm rot="0">
            <a:off x="457200" y="1280160"/>
            <a:ext cx="2590799" cy="150875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82" name="椭圆"/>
          <p:cNvSpPr>
            <a:spLocks/>
          </p:cNvSpPr>
          <p:nvPr/>
        </p:nvSpPr>
        <p:spPr>
          <a:xfrm rot="0">
            <a:off x="640080" y="1463040"/>
            <a:ext cx="164592" cy="164591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183" name="矩形"/>
          <p:cNvSpPr>
            <a:spLocks/>
          </p:cNvSpPr>
          <p:nvPr/>
        </p:nvSpPr>
        <p:spPr>
          <a:xfrm rot="0">
            <a:off x="914400" y="1389888"/>
            <a:ext cx="199644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F9E89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Product comparison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4" name="矩形"/>
          <p:cNvSpPr>
            <a:spLocks/>
          </p:cNvSpPr>
          <p:nvPr/>
        </p:nvSpPr>
        <p:spPr>
          <a:xfrm rot="0">
            <a:off x="640080" y="1810512"/>
            <a:ext cx="2225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Compare prices and features of phones or laptops.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5" name="圆角矩形"/>
          <p:cNvSpPr>
            <a:spLocks/>
          </p:cNvSpPr>
          <p:nvPr/>
        </p:nvSpPr>
        <p:spPr>
          <a:xfrm rot="0">
            <a:off x="3276600" y="1280160"/>
            <a:ext cx="2590800" cy="150875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86" name="椭圆"/>
          <p:cNvSpPr>
            <a:spLocks/>
          </p:cNvSpPr>
          <p:nvPr/>
        </p:nvSpPr>
        <p:spPr>
          <a:xfrm rot="0">
            <a:off x="3459479" y="1463040"/>
            <a:ext cx="164592" cy="164591"/>
          </a:xfrm>
          <a:prstGeom prst="ellipse"/>
          <a:solidFill>
            <a:srgbClr val="0B4F6C"/>
          </a:solidFill>
          <a:ln w="12700" cmpd="sng" cap="flat">
            <a:noFill/>
            <a:prstDash val="solid"/>
            <a:miter/>
          </a:ln>
        </p:spPr>
      </p:sp>
      <p:sp>
        <p:nvSpPr>
          <p:cNvPr id="187" name="矩形"/>
          <p:cNvSpPr>
            <a:spLocks/>
          </p:cNvSpPr>
          <p:nvPr/>
        </p:nvSpPr>
        <p:spPr>
          <a:xfrm rot="0">
            <a:off x="3733800" y="1389888"/>
            <a:ext cx="199644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Market research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8" name="矩形"/>
          <p:cNvSpPr>
            <a:spLocks/>
          </p:cNvSpPr>
          <p:nvPr/>
        </p:nvSpPr>
        <p:spPr>
          <a:xfrm rot="0">
            <a:off x="3459479" y="1810512"/>
            <a:ext cx="2225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Summarise competitors, trends and market size.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9" name="圆角矩形"/>
          <p:cNvSpPr>
            <a:spLocks/>
          </p:cNvSpPr>
          <p:nvPr/>
        </p:nvSpPr>
        <p:spPr>
          <a:xfrm rot="0">
            <a:off x="6096000" y="1280160"/>
            <a:ext cx="2590800" cy="150875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90" name="椭圆"/>
          <p:cNvSpPr>
            <a:spLocks/>
          </p:cNvSpPr>
          <p:nvPr/>
        </p:nvSpPr>
        <p:spPr>
          <a:xfrm rot="0">
            <a:off x="6278880" y="1463040"/>
            <a:ext cx="164592" cy="164591"/>
          </a:xfrm>
          <a:prstGeom prst="ellipse"/>
          <a:solidFill>
            <a:srgbClr val="E8833A"/>
          </a:solidFill>
          <a:ln w="12700" cmpd="sng" cap="flat">
            <a:noFill/>
            <a:prstDash val="solid"/>
            <a:miter/>
          </a:ln>
        </p:spPr>
      </p:sp>
      <p:sp>
        <p:nvSpPr>
          <p:cNvPr id="191" name="矩形"/>
          <p:cNvSpPr>
            <a:spLocks/>
          </p:cNvSpPr>
          <p:nvPr/>
        </p:nvSpPr>
        <p:spPr>
          <a:xfrm rot="0">
            <a:off x="6553200" y="1389888"/>
            <a:ext cx="199644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E8833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News digest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2" name="矩形"/>
          <p:cNvSpPr>
            <a:spLocks/>
          </p:cNvSpPr>
          <p:nvPr/>
        </p:nvSpPr>
        <p:spPr>
          <a:xfrm rot="0">
            <a:off x="6278880" y="1810512"/>
            <a:ext cx="2225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Collect and summarise the latest news on a topic.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3" name="圆角矩形"/>
          <p:cNvSpPr>
            <a:spLocks/>
          </p:cNvSpPr>
          <p:nvPr/>
        </p:nvSpPr>
        <p:spPr>
          <a:xfrm rot="0">
            <a:off x="457200" y="3017519"/>
            <a:ext cx="2590799" cy="150875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94" name="椭圆"/>
          <p:cNvSpPr>
            <a:spLocks/>
          </p:cNvSpPr>
          <p:nvPr/>
        </p:nvSpPr>
        <p:spPr>
          <a:xfrm rot="0">
            <a:off x="640080" y="3200400"/>
            <a:ext cx="164592" cy="164592"/>
          </a:xfrm>
          <a:prstGeom prst="ellipse"/>
          <a:solidFill>
            <a:srgbClr val="7E57C2"/>
          </a:solidFill>
          <a:ln w="12700" cmpd="sng" cap="flat">
            <a:noFill/>
            <a:prstDash val="solid"/>
            <a:miter/>
          </a:ln>
        </p:spPr>
      </p:sp>
      <p:sp>
        <p:nvSpPr>
          <p:cNvPr id="195" name="矩形"/>
          <p:cNvSpPr>
            <a:spLocks/>
          </p:cNvSpPr>
          <p:nvPr/>
        </p:nvSpPr>
        <p:spPr>
          <a:xfrm rot="0">
            <a:off x="914400" y="3127248"/>
            <a:ext cx="199644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7E57C2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Education topics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6" name="矩形"/>
          <p:cNvSpPr>
            <a:spLocks/>
          </p:cNvSpPr>
          <p:nvPr/>
        </p:nvSpPr>
        <p:spPr>
          <a:xfrm rot="0">
            <a:off x="640080" y="3547872"/>
            <a:ext cx="2225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Explain a subject with sources, such as AI in education.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7" name="圆角矩形"/>
          <p:cNvSpPr>
            <a:spLocks/>
          </p:cNvSpPr>
          <p:nvPr/>
        </p:nvSpPr>
        <p:spPr>
          <a:xfrm rot="0">
            <a:off x="3276600" y="3017519"/>
            <a:ext cx="2590800" cy="150875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198" name="椭圆"/>
          <p:cNvSpPr>
            <a:spLocks/>
          </p:cNvSpPr>
          <p:nvPr/>
        </p:nvSpPr>
        <p:spPr>
          <a:xfrm rot="0">
            <a:off x="3459479" y="3200400"/>
            <a:ext cx="164592" cy="164592"/>
          </a:xfrm>
          <a:prstGeom prst="ellipse"/>
          <a:solidFill>
            <a:srgbClr val="C2185B"/>
          </a:solidFill>
          <a:ln w="12700" cmpd="sng" cap="flat">
            <a:noFill/>
            <a:prstDash val="solid"/>
            <a:miter/>
          </a:ln>
        </p:spPr>
      </p:sp>
      <p:sp>
        <p:nvSpPr>
          <p:cNvPr id="199" name="矩形"/>
          <p:cNvSpPr>
            <a:spLocks/>
          </p:cNvSpPr>
          <p:nvPr/>
        </p:nvSpPr>
        <p:spPr>
          <a:xfrm rot="0">
            <a:off x="3733800" y="3127248"/>
            <a:ext cx="199644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C2185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Price tracking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0" name="矩形"/>
          <p:cNvSpPr>
            <a:spLocks/>
          </p:cNvSpPr>
          <p:nvPr/>
        </p:nvSpPr>
        <p:spPr>
          <a:xfrm rot="0">
            <a:off x="3459479" y="3547872"/>
            <a:ext cx="2225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Check live gold prices in any Indian city.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1" name="圆角矩形"/>
          <p:cNvSpPr>
            <a:spLocks/>
          </p:cNvSpPr>
          <p:nvPr/>
        </p:nvSpPr>
        <p:spPr>
          <a:xfrm rot="0">
            <a:off x="6096000" y="3017519"/>
            <a:ext cx="2590800" cy="1508759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202" name="椭圆"/>
          <p:cNvSpPr>
            <a:spLocks/>
          </p:cNvSpPr>
          <p:nvPr/>
        </p:nvSpPr>
        <p:spPr>
          <a:xfrm rot="0">
            <a:off x="6278880" y="3200400"/>
            <a:ext cx="164592" cy="164592"/>
          </a:xfrm>
          <a:prstGeom prst="ellipse"/>
          <a:solidFill>
            <a:srgbClr val="2F80C9"/>
          </a:solidFill>
          <a:ln w="12700" cmpd="sng" cap="flat">
            <a:noFill/>
            <a:prstDash val="solid"/>
            <a:miter/>
          </a:ln>
        </p:spPr>
      </p:sp>
      <p:sp>
        <p:nvSpPr>
          <p:cNvPr id="203" name="矩形"/>
          <p:cNvSpPr>
            <a:spLocks/>
          </p:cNvSpPr>
          <p:nvPr/>
        </p:nvSpPr>
        <p:spPr>
          <a:xfrm rot="0">
            <a:off x="6553200" y="3127248"/>
            <a:ext cx="199644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F80C9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Buying decisions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4" name="矩形"/>
          <p:cNvSpPr>
            <a:spLocks/>
          </p:cNvSpPr>
          <p:nvPr/>
        </p:nvSpPr>
        <p:spPr>
          <a:xfrm rot="0">
            <a:off x="6278880" y="3547872"/>
            <a:ext cx="22250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Weigh options and get a cited recommendation.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64882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0B4F6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Limitations and Best Practices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8" name="圆角矩形"/>
          <p:cNvSpPr>
            <a:spLocks/>
          </p:cNvSpPr>
          <p:nvPr/>
        </p:nvSpPr>
        <p:spPr>
          <a:xfrm rot="0">
            <a:off x="457200" y="1280160"/>
            <a:ext cx="4023359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209" name="椭圆"/>
          <p:cNvSpPr>
            <a:spLocks/>
          </p:cNvSpPr>
          <p:nvPr/>
        </p:nvSpPr>
        <p:spPr>
          <a:xfrm rot="0">
            <a:off x="640080" y="1463040"/>
            <a:ext cx="164592" cy="164591"/>
          </a:xfrm>
          <a:prstGeom prst="ellipse"/>
          <a:solidFill>
            <a:srgbClr val="E8833A"/>
          </a:solidFill>
          <a:ln w="12700" cmpd="sng" cap="flat">
            <a:noFill/>
            <a:prstDash val="solid"/>
            <a:miter/>
          </a:ln>
        </p:spPr>
      </p:sp>
      <p:sp>
        <p:nvSpPr>
          <p:cNvPr id="210" name="矩形"/>
          <p:cNvSpPr>
            <a:spLocks/>
          </p:cNvSpPr>
          <p:nvPr/>
        </p:nvSpPr>
        <p:spPr>
          <a:xfrm rot="0">
            <a:off x="914400" y="1389888"/>
            <a:ext cx="34290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E8833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Limitations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1" name="矩形"/>
          <p:cNvSpPr>
            <a:spLocks/>
          </p:cNvSpPr>
          <p:nvPr/>
        </p:nvSpPr>
        <p:spPr>
          <a:xfrm rot="0">
            <a:off x="640080" y="1810512"/>
            <a:ext cx="3657600" cy="2651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Search snippets can be short or outdated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Sources may disagree on prices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More searches mean more cost and time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agent can still make mistakes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2" name="圆角矩形"/>
          <p:cNvSpPr>
            <a:spLocks/>
          </p:cNvSpPr>
          <p:nvPr/>
        </p:nvSpPr>
        <p:spPr>
          <a:xfrm rot="0">
            <a:off x="4663440" y="1280160"/>
            <a:ext cx="4023359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25400" dir="5400000">
              <a:srgbClr val="000000">
                <a:alpha val="14509"/>
              </a:srgbClr>
            </a:outerShdw>
          </a:effectLst>
        </p:spPr>
      </p:sp>
      <p:sp>
        <p:nvSpPr>
          <p:cNvPr id="213" name="椭圆"/>
          <p:cNvSpPr>
            <a:spLocks/>
          </p:cNvSpPr>
          <p:nvPr/>
        </p:nvSpPr>
        <p:spPr>
          <a:xfrm rot="0">
            <a:off x="4846320" y="1463040"/>
            <a:ext cx="164591" cy="164591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214" name="矩形"/>
          <p:cNvSpPr>
            <a:spLocks/>
          </p:cNvSpPr>
          <p:nvPr/>
        </p:nvSpPr>
        <p:spPr>
          <a:xfrm rot="0">
            <a:off x="5120640" y="1389888"/>
            <a:ext cx="3428999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1F9E89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Best practices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5" name="矩形"/>
          <p:cNvSpPr>
            <a:spLocks/>
          </p:cNvSpPr>
          <p:nvPr/>
        </p:nvSpPr>
        <p:spPr>
          <a:xfrm rot="0">
            <a:off x="4846320" y="1810512"/>
            <a:ext cx="3657599" cy="2651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Ask the agent to cite every claim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Limit the number of tool calls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Check key numbers on official sites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rgbClr val="1B3A4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Test with simple questions first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670900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矩形"/>
          <p:cNvSpPr>
            <a:spLocks/>
          </p:cNvSpPr>
          <p:nvPr/>
        </p:nvSpPr>
        <p:spPr>
          <a:xfrm rot="0">
            <a:off x="457200" y="320040"/>
            <a:ext cx="822960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Next Improvements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9" name="椭圆"/>
          <p:cNvSpPr>
            <a:spLocks/>
          </p:cNvSpPr>
          <p:nvPr/>
        </p:nvSpPr>
        <p:spPr>
          <a:xfrm rot="0">
            <a:off x="548640" y="1325880"/>
            <a:ext cx="548640" cy="548640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220" name="矩形"/>
          <p:cNvSpPr>
            <a:spLocks/>
          </p:cNvSpPr>
          <p:nvPr/>
        </p:nvSpPr>
        <p:spPr>
          <a:xfrm rot="0">
            <a:off x="548640" y="1325880"/>
            <a:ext cx="5486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1" name="矩形"/>
          <p:cNvSpPr>
            <a:spLocks/>
          </p:cNvSpPr>
          <p:nvPr/>
        </p:nvSpPr>
        <p:spPr>
          <a:xfrm rot="0">
            <a:off x="1371600" y="1325880"/>
            <a:ext cx="713232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Limit the number of tool calls in the agent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2" name="椭圆"/>
          <p:cNvSpPr>
            <a:spLocks/>
          </p:cNvSpPr>
          <p:nvPr/>
        </p:nvSpPr>
        <p:spPr>
          <a:xfrm rot="0">
            <a:off x="548640" y="2194560"/>
            <a:ext cx="548640" cy="548640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223" name="矩形"/>
          <p:cNvSpPr>
            <a:spLocks/>
          </p:cNvSpPr>
          <p:nvPr/>
        </p:nvSpPr>
        <p:spPr>
          <a:xfrm rot="0">
            <a:off x="548640" y="2194560"/>
            <a:ext cx="5486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4" name="矩形"/>
          <p:cNvSpPr>
            <a:spLocks/>
          </p:cNvSpPr>
          <p:nvPr/>
        </p:nvSpPr>
        <p:spPr>
          <a:xfrm rot="0">
            <a:off x="1371600" y="2194560"/>
            <a:ext cx="713232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Add a web page reader tool for longer content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5" name="椭圆"/>
          <p:cNvSpPr>
            <a:spLocks/>
          </p:cNvSpPr>
          <p:nvPr/>
        </p:nvSpPr>
        <p:spPr>
          <a:xfrm rot="0">
            <a:off x="548640" y="3063239"/>
            <a:ext cx="548640" cy="548639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226" name="矩形"/>
          <p:cNvSpPr>
            <a:spLocks/>
          </p:cNvSpPr>
          <p:nvPr/>
        </p:nvSpPr>
        <p:spPr>
          <a:xfrm rot="0">
            <a:off x="548640" y="3063239"/>
            <a:ext cx="54864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7" name="矩形"/>
          <p:cNvSpPr>
            <a:spLocks/>
          </p:cNvSpPr>
          <p:nvPr/>
        </p:nvSpPr>
        <p:spPr>
          <a:xfrm rot="0">
            <a:off x="1371600" y="3063239"/>
            <a:ext cx="713232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 a chat or webhook trigger instead of manual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8" name="椭圆"/>
          <p:cNvSpPr>
            <a:spLocks/>
          </p:cNvSpPr>
          <p:nvPr/>
        </p:nvSpPr>
        <p:spPr>
          <a:xfrm rot="0">
            <a:off x="548640" y="3931920"/>
            <a:ext cx="548640" cy="548639"/>
          </a:xfrm>
          <a:prstGeom prst="ellipse"/>
          <a:solidFill>
            <a:srgbClr val="1F9E89"/>
          </a:solidFill>
          <a:ln w="12700" cmpd="sng" cap="flat">
            <a:noFill/>
            <a:prstDash val="solid"/>
            <a:miter/>
          </a:ln>
        </p:spPr>
      </p:sp>
      <p:sp>
        <p:nvSpPr>
          <p:cNvPr id="229" name="矩形"/>
          <p:cNvSpPr>
            <a:spLocks/>
          </p:cNvSpPr>
          <p:nvPr/>
        </p:nvSpPr>
        <p:spPr>
          <a:xfrm rot="0">
            <a:off x="548640" y="3931920"/>
            <a:ext cx="54864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0" name="矩形"/>
          <p:cNvSpPr>
            <a:spLocks/>
          </p:cNvSpPr>
          <p:nvPr/>
        </p:nvSpPr>
        <p:spPr>
          <a:xfrm rot="0">
            <a:off x="1371600" y="3931920"/>
            <a:ext cx="713232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Send the final report to Google Docs or Gmail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428475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矩形"/>
          <p:cNvSpPr>
            <a:spLocks/>
          </p:cNvSpPr>
          <p:nvPr/>
        </p:nvSpPr>
        <p:spPr>
          <a:xfrm rot="0">
            <a:off x="640080" y="1645920"/>
            <a:ext cx="786384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Thank You</a:t>
            </a:r>
            <a:endParaRPr lang="zh-CN" altLang="en-US" sz="4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4" name="矩形"/>
          <p:cNvSpPr>
            <a:spLocks/>
          </p:cNvSpPr>
          <p:nvPr/>
        </p:nvSpPr>
        <p:spPr>
          <a:xfrm rot="0">
            <a:off x="640080" y="2651760"/>
            <a:ext cx="786384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7FE0C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Deep Research Assistant with Web Browsing  |  Questions?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98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Yozo_Office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subject>PptxGenJS Presentation</dc:subject>
  <dc:creator>PptxGenJS</dc:creator>
  <cp:lastModifiedBy>root</cp:lastModifiedBy>
  <cp:revision>1</cp:revision>
  <dcterms:created xsi:type="dcterms:W3CDTF">2026-10-01T04:35:33Z</dcterms:created>
  <dcterms:modified xsi:type="dcterms:W3CDTF">2026-10-01T02:07:31Z</dcterms:modified>
</cp:coreProperties>
</file>